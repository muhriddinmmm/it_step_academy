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99" autoAdjust="0"/>
  </p:normalViewPr>
  <p:slideViewPr>
    <p:cSldViewPr snapToGrid="0">
      <p:cViewPr>
        <p:scale>
          <a:sx n="125" d="100"/>
          <a:sy n="125" d="100"/>
        </p:scale>
        <p:origin x="-6" y="-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47751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4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0169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30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942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91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77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9011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89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77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49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A4EDB6F-A448-4BE5-9CE8-73E68DDA60F0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626560F-9D08-4853-A9B8-9F9749E4FB21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05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eveloper.mozilla.org/ru/docs/Web/JavaScript/Reference/Global_Objects/RegEx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javascript.ru/regexp-multiline-mode" TargetMode="External"/><Relationship Id="rId2" Type="http://schemas.openxmlformats.org/officeDocument/2006/relationships/hyperlink" Target="https://learn.javascript.ru/regexp-introduction#flag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javascript.ru/regexp-sticky" TargetMode="External"/><Relationship Id="rId5" Type="http://schemas.openxmlformats.org/officeDocument/2006/relationships/hyperlink" Target="https://learn.javascript.ru/regexp-unicode" TargetMode="External"/><Relationship Id="rId4" Type="http://schemas.openxmlformats.org/officeDocument/2006/relationships/hyperlink" Target="https://learn.javascript.ru/regexp-character-class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learn.javascript.ru/regexp-methods#str-match-regex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learn.javascript.ru/regexp-introduction#zamena-str-repla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learn.javascript.ru/regexp-groups#primer-gogog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learn.javascript.ru/regexp-groups#primer-emai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learn.javascript.ru/regexp-groups#imenovannye-grup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learn.javascript.ru/regexp-introduction#proverka-regexp-tes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javascript.ru/regexp-introduction#itogo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ru.wikipedia.org/wiki/MAC_addres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9053E-14EE-47BF-8092-63AE39058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5616"/>
            <a:ext cx="9144000" cy="2387600"/>
          </a:xfrm>
        </p:spPr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BlinkMacSystemFont"/>
              </a:rPr>
              <a:t>Методы </a:t>
            </a:r>
            <a:r>
              <a:rPr lang="en-US" b="1" dirty="0" err="1">
                <a:solidFill>
                  <a:srgbClr val="333333"/>
                </a:solidFill>
                <a:effectLst/>
                <a:latin typeface="BlinkMacSystemFont"/>
              </a:rPr>
              <a:t>RegExp</a:t>
            </a:r>
            <a:r>
              <a:rPr lang="en-US" b="1" dirty="0">
                <a:solidFill>
                  <a:srgbClr val="333333"/>
                </a:solidFill>
                <a:effectLst/>
                <a:latin typeface="BlinkMacSystemFont"/>
              </a:rPr>
              <a:t> </a:t>
            </a:r>
            <a:r>
              <a:rPr lang="ru-RU" b="1" dirty="0">
                <a:solidFill>
                  <a:srgbClr val="333333"/>
                </a:solidFill>
                <a:effectLst/>
                <a:latin typeface="BlinkMacSystemFont"/>
              </a:rPr>
              <a:t>и </a:t>
            </a:r>
            <a:r>
              <a:rPr lang="en-US" b="1" dirty="0">
                <a:solidFill>
                  <a:srgbClr val="333333"/>
                </a:solidFill>
                <a:effectLst/>
                <a:latin typeface="BlinkMacSystemFont"/>
              </a:rPr>
              <a:t>String</a:t>
            </a:r>
            <a:br>
              <a:rPr lang="en-US" b="1" dirty="0">
                <a:solidFill>
                  <a:srgbClr val="333333"/>
                </a:solidFill>
                <a:effectLst/>
                <a:latin typeface="BlinkMacSystemFont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21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980E80-F984-49C2-A664-50E4FC2E463B}"/>
              </a:ext>
            </a:extLst>
          </p:cNvPr>
          <p:cNvSpPr txBox="1"/>
          <p:nvPr/>
        </p:nvSpPr>
        <p:spPr>
          <a:xfrm>
            <a:off x="1419131" y="385702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solidFill>
                  <a:srgbClr val="333333"/>
                </a:solidFill>
                <a:effectLst/>
                <a:latin typeface="BlinkMacSystemFont"/>
              </a:rPr>
              <a:t>Введение: шаблоны и флаги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790C3-04E4-4AF1-8579-35C693EBB3E5}"/>
              </a:ext>
            </a:extLst>
          </p:cNvPr>
          <p:cNvSpPr txBox="1"/>
          <p:nvPr/>
        </p:nvSpPr>
        <p:spPr>
          <a:xfrm>
            <a:off x="1419130" y="909066"/>
            <a:ext cx="99882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0" i="0" dirty="0">
                <a:solidFill>
                  <a:srgbClr val="333333"/>
                </a:solidFill>
                <a:effectLst/>
                <a:latin typeface="BlinkMacSystemFont"/>
              </a:rPr>
              <a:t>Регулярные выражения – мощное средство поиска и замены в строке.</a:t>
            </a:r>
          </a:p>
          <a:p>
            <a:pPr algn="l"/>
            <a:r>
              <a:rPr lang="ru-RU" sz="1600" b="0" i="0" dirty="0">
                <a:solidFill>
                  <a:srgbClr val="333333"/>
                </a:solidFill>
                <a:effectLst/>
                <a:latin typeface="BlinkMacSystemFont"/>
              </a:rPr>
              <a:t>В </a:t>
            </a:r>
            <a:r>
              <a:rPr lang="ru-RU" sz="1600" b="0" i="0" dirty="0" err="1">
                <a:solidFill>
                  <a:srgbClr val="333333"/>
                </a:solidFill>
                <a:effectLst/>
                <a:latin typeface="BlinkMacSystemFont"/>
              </a:rPr>
              <a:t>JavaScript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BlinkMacSystemFont"/>
              </a:rPr>
              <a:t> регулярные выражения реализованы отдельным объектом </a:t>
            </a:r>
            <a:r>
              <a:rPr lang="ru-RU" sz="1600" b="0" i="0" u="none" strike="noStrike" dirty="0" err="1">
                <a:solidFill>
                  <a:srgbClr val="0059B2"/>
                </a:solidFill>
                <a:effectLst/>
                <a:latin typeface="BlinkMacSystemFont"/>
                <a:hlinkClick r:id="rId2"/>
              </a:rPr>
              <a:t>RegExp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BlinkMacSystemFont"/>
              </a:rPr>
              <a:t> и интегрированы в методы строк.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241091-F051-4FA8-B78C-2F0058010912}"/>
              </a:ext>
            </a:extLst>
          </p:cNvPr>
          <p:cNvSpPr txBox="1"/>
          <p:nvPr/>
        </p:nvSpPr>
        <p:spPr>
          <a:xfrm>
            <a:off x="1419130" y="1741024"/>
            <a:ext cx="9481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>
                <a:solidFill>
                  <a:srgbClr val="333333"/>
                </a:solidFill>
                <a:effectLst/>
                <a:latin typeface="BlinkMacSystemFont"/>
              </a:rPr>
              <a:t>Существует два синтаксиса для создания регулярного выражения.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C0B47-705A-4DD8-BDFE-C2015FE4795B}"/>
              </a:ext>
            </a:extLst>
          </p:cNvPr>
          <p:cNvSpPr txBox="1"/>
          <p:nvPr/>
        </p:nvSpPr>
        <p:spPr>
          <a:xfrm>
            <a:off x="1419130" y="2142095"/>
            <a:ext cx="6097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333333"/>
                </a:solidFill>
                <a:effectLst/>
                <a:latin typeface="BlinkMacSystemFont"/>
              </a:rPr>
              <a:t>«Длинный» синтаксис:</a:t>
            </a:r>
            <a:endParaRPr lang="ru-RU" sz="14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C1AA98E-F937-4FCF-8184-81176975C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30" y="2656249"/>
            <a:ext cx="7477125" cy="495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A97466-48C7-458F-A9D7-BFAAC07440F0}"/>
              </a:ext>
            </a:extLst>
          </p:cNvPr>
          <p:cNvSpPr txBox="1"/>
          <p:nvPr/>
        </p:nvSpPr>
        <p:spPr>
          <a:xfrm>
            <a:off x="1419130" y="3357926"/>
            <a:ext cx="6097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333333"/>
                </a:solidFill>
                <a:effectLst/>
                <a:latin typeface="BlinkMacSystemFont"/>
              </a:rPr>
              <a:t>«Короткий» синтаксис:</a:t>
            </a:r>
            <a:endParaRPr lang="ru-RU" sz="14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1153D66-D56D-487A-BD87-72971A47D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130" y="3872080"/>
            <a:ext cx="7477125" cy="628650"/>
          </a:xfrm>
          <a:prstGeom prst="rect">
            <a:avLst/>
          </a:prstGeom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7C69F165-44A0-4210-B9D7-154ACFB0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130" y="4553220"/>
            <a:ext cx="9678155" cy="584775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Слеши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/.../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говорят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JavaScript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о том, что это регулярное выражение. Они играют здесь ту же роль, что и кавычки для обозначения строк.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FF072D4-8BE8-4C9E-94E8-2FF4FBE32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130" y="5363581"/>
            <a:ext cx="9988235" cy="523220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Основная разница между этими двумя способами создания заключается в том, что слеши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/.../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не допускают никаких вставок переменных (наподобие возможных в строках через 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${...}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). Они полностью статичны.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FF4BCF2-FD4E-40BA-816F-41944FAB8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9219" y="5948934"/>
            <a:ext cx="74771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3CDCDD-D3A8-444A-BBB6-C590341F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546" y="675080"/>
            <a:ext cx="10390910" cy="47781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0784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Ф</a:t>
            </a:r>
            <a:r>
              <a:rPr kumimoji="0" lang="ru-RU" altLang="ru-RU" sz="2800" b="1" i="0" u="none" strike="noStrike" cap="none" normalizeH="0" baseline="0" dirty="0" bmk="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лаги</a:t>
            </a:r>
            <a:endParaRPr kumimoji="0" lang="ru-RU" altLang="ru-RU" sz="28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Регулярные выражения могут иметь флаги, которые влияют на поиск.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В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JavaScript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их всего шесть: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С этим флагом поиск не зависит от регистра: нет разницы между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(см. пример ниже).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С этим флагом поиск ищет все совпадения, без него – только первое.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Многострочный режим (рассматривается в главе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59B2"/>
                </a:solidFill>
                <a:effectLst/>
                <a:latin typeface="BlinkMacSystemFont"/>
                <a:hlinkClick r:id="rId3"/>
              </a:rPr>
              <a:t>Многострочный режим якорей ^ $, флаг "m"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Включает режим «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dotall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», при котором точка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может соответствовать символу перевода строки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(рассматривается в главе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59B2"/>
                </a:solidFill>
                <a:effectLst/>
                <a:latin typeface="BlinkMacSystemFont"/>
                <a:hlinkClick r:id="rId4"/>
              </a:rPr>
              <a:t>Символьные классы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u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Включает полную поддержку юникода. Флаг разрешает корректную обработку суррогатных пар (подробнее об этом в главе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59B2"/>
                </a:solidFill>
                <a:effectLst/>
                <a:latin typeface="BlinkMacSystemFont"/>
                <a:hlinkClick r:id="rId5"/>
              </a:rPr>
              <a:t>Юникод: флаг "u" и класс \p{...}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y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Режим поиска на конкретной позиции в тексте (описан в главе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59B2"/>
                </a:solidFill>
                <a:effectLst/>
                <a:latin typeface="BlinkMacSystemFont"/>
                <a:hlinkClick r:id="rId6"/>
              </a:rPr>
              <a:t>Поиск на заданной позиции, флаг "y"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84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03CB21-DA4A-4D03-8BF1-C905CD9A1B3A}"/>
              </a:ext>
            </a:extLst>
          </p:cNvPr>
          <p:cNvSpPr txBox="1"/>
          <p:nvPr/>
        </p:nvSpPr>
        <p:spPr>
          <a:xfrm>
            <a:off x="1368640" y="356384"/>
            <a:ext cx="3239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u="sng" dirty="0" err="1">
                <a:solidFill>
                  <a:srgbClr val="666666"/>
                </a:solidFill>
                <a:effectLst/>
                <a:latin typeface="BlinkMacSystemFont"/>
                <a:hlinkClick r:id="rId2"/>
              </a:rPr>
              <a:t>str.match</a:t>
            </a:r>
            <a:r>
              <a:rPr lang="en-US" sz="2800" b="1" i="0" u="sng" dirty="0">
                <a:solidFill>
                  <a:srgbClr val="666666"/>
                </a:solidFill>
                <a:effectLst/>
                <a:latin typeface="BlinkMacSystemFont"/>
                <a:hlinkClick r:id="rId2"/>
              </a:rPr>
              <a:t>(</a:t>
            </a:r>
            <a:r>
              <a:rPr lang="en-US" sz="2800" b="1" i="0" u="sng" dirty="0" err="1">
                <a:solidFill>
                  <a:srgbClr val="666666"/>
                </a:solidFill>
                <a:effectLst/>
                <a:latin typeface="BlinkMacSystemFont"/>
                <a:hlinkClick r:id="rId2"/>
              </a:rPr>
              <a:t>regexp</a:t>
            </a:r>
            <a:r>
              <a:rPr lang="en-US" sz="2800" b="1" i="0" u="sng" dirty="0">
                <a:solidFill>
                  <a:srgbClr val="666666"/>
                </a:solidFill>
                <a:effectLst/>
                <a:latin typeface="BlinkMacSystemFont"/>
                <a:hlinkClick r:id="rId2"/>
              </a:rPr>
              <a:t>)</a:t>
            </a:r>
            <a:endParaRPr lang="en-US" sz="2800" b="1" i="0" dirty="0">
              <a:solidFill>
                <a:srgbClr val="333333"/>
              </a:solidFill>
              <a:effectLst/>
              <a:latin typeface="BlinkMacSystemFon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B73CED1-CDE9-46CA-8FD1-B595C4706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640" y="879604"/>
            <a:ext cx="7677338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Метод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str.match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для строки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возвращает совпадения с регулярным выражением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644942-8A7B-4057-8D0B-8B5397326533}"/>
              </a:ext>
            </a:extLst>
          </p:cNvPr>
          <p:cNvSpPr txBox="1"/>
          <p:nvPr/>
        </p:nvSpPr>
        <p:spPr>
          <a:xfrm>
            <a:off x="1368640" y="1264324"/>
            <a:ext cx="6097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BlinkMacSystemFont"/>
              </a:rPr>
              <a:t>У него есть три режима работы:</a:t>
            </a:r>
            <a:endParaRPr lang="ru-RU" sz="1200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794127FB-5A2A-4B1F-84A3-81FB73DC7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640" y="1607435"/>
            <a:ext cx="7677338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1.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Если у регулярного выражения есть флаг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то он возвращает массив всех совпадений: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E12E97E-7FA5-41C4-9D40-43D4E3D26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587" y="1992155"/>
            <a:ext cx="7315200" cy="857250"/>
          </a:xfrm>
          <a:prstGeom prst="rect">
            <a:avLst/>
          </a:prstGeom>
        </p:spPr>
      </p:pic>
      <p:sp>
        <p:nvSpPr>
          <p:cNvPr id="18" name="Rectangle 6">
            <a:extLst>
              <a:ext uri="{FF2B5EF4-FFF2-40B4-BE49-F238E27FC236}">
                <a16:creationId xmlns:a16="http://schemas.microsoft.com/office/drawing/2014/main" id="{277F49D7-B903-4FF7-9C57-9A780C2F3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640" y="3040228"/>
            <a:ext cx="8644493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Обратите внимание: найдены и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Любо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любо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благодаря флагу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который делает регулярное выражение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регистронезависимым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6D5A5CAB-BB93-42BD-A4A9-70A5094A5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640" y="3424948"/>
            <a:ext cx="8736594" cy="461665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2.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Если такого флага нет, то возвращает только первое совпадение в виде массива, в котором по индексу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находится совпадение, и есть свойства с дополнительной информацией о нём: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A9AAB10-5096-4A44-98A8-6FCFA4D65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993" y="4098040"/>
            <a:ext cx="72961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4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D1C6D82-950B-4B06-9293-C8DCB8544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416" y="213252"/>
            <a:ext cx="9641940" cy="646331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3.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И, наконец, если совпадений нет, то, вне зависимости от наличия флага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возвращается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Это очень важный нюанс. При отсутствии совпадений возвращается не пустой массив, а именно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Если об этом забыть, можно легко допустить ошибку, например: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7C144A-F3E5-4EC4-9481-489F76971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16" y="1057322"/>
            <a:ext cx="7229475" cy="1266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7FC9C5-81EA-40B3-9362-F6179F078DA7}"/>
              </a:ext>
            </a:extLst>
          </p:cNvPr>
          <p:cNvSpPr txBox="1"/>
          <p:nvPr/>
        </p:nvSpPr>
        <p:spPr>
          <a:xfrm>
            <a:off x="1086415" y="2521886"/>
            <a:ext cx="8990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BlinkMacSystemFont"/>
              </a:rPr>
              <a:t>Если хочется, чтобы результатом всегда был массив, можно написать так:</a:t>
            </a:r>
            <a:endParaRPr lang="ru-RU" sz="12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CA1752-F1FB-42B8-86BF-9938774A3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15" y="2996624"/>
            <a:ext cx="7277100" cy="132397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415" y="4735830"/>
            <a:ext cx="81248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0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FC76E3-B31F-438C-826F-FCBABB1928AB}"/>
              </a:ext>
            </a:extLst>
          </p:cNvPr>
          <p:cNvSpPr txBox="1"/>
          <p:nvPr/>
        </p:nvSpPr>
        <p:spPr>
          <a:xfrm>
            <a:off x="1183741" y="24084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u="sng" dirty="0">
                <a:solidFill>
                  <a:srgbClr val="666666"/>
                </a:solidFill>
                <a:effectLst/>
                <a:latin typeface="BlinkMacSystemFont"/>
                <a:hlinkClick r:id="rId2"/>
              </a:rPr>
              <a:t>Замена: </a:t>
            </a:r>
            <a:r>
              <a:rPr lang="en-US" b="1" i="0" u="sng" dirty="0" err="1">
                <a:solidFill>
                  <a:srgbClr val="666666"/>
                </a:solidFill>
                <a:effectLst/>
                <a:latin typeface="BlinkMacSystemFont"/>
                <a:hlinkClick r:id="rId2"/>
              </a:rPr>
              <a:t>str.replace</a:t>
            </a:r>
            <a:endParaRPr lang="en-US" b="1" i="0" dirty="0">
              <a:solidFill>
                <a:srgbClr val="333333"/>
              </a:solidFill>
              <a:effectLst/>
              <a:latin typeface="BlinkMacSystemFon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CED8123-75D4-415D-B97F-B5F65B461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741" y="692651"/>
            <a:ext cx="9454081" cy="461665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Метод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str.replace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replacement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заменяет совпадения с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в строке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на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replacement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(все, если есть флаг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иначе только первое).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282EDA-4648-4448-B759-1F595820B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741" y="1236788"/>
            <a:ext cx="6934200" cy="12192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0681569-43BD-4C34-AFF0-4525E7A3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741" y="2631965"/>
            <a:ext cx="77533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7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B6CEA2-2CEC-47F7-90E3-955D5E79E750}"/>
              </a:ext>
            </a:extLst>
          </p:cNvPr>
          <p:cNvSpPr txBox="1"/>
          <p:nvPr/>
        </p:nvSpPr>
        <p:spPr>
          <a:xfrm>
            <a:off x="1149791" y="370202"/>
            <a:ext cx="9454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BlinkMacSystemFont"/>
              </a:rPr>
              <a:t>Скобочные группы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8D5257-8C2E-4FC6-9D77-8764B9C68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791" y="739534"/>
            <a:ext cx="9080626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Часть шаблона можно заключить в скобки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(...)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Это называется «скобочная группа».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148BBB-1847-4CB1-AF23-BDF9E8E0F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790" y="1108866"/>
            <a:ext cx="9080625" cy="1118150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П</a:t>
            </a:r>
            <a:r>
              <a:rPr kumimoji="0" lang="ru-RU" altLang="ru-RU" sz="1500" b="1" i="0" u="none" strike="noStrike" cap="none" normalizeH="0" baseline="0" dirty="0" bmk="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ример: </a:t>
            </a:r>
            <a:r>
              <a:rPr kumimoji="0" lang="ru-RU" altLang="ru-RU" sz="1500" b="1" i="0" u="none" strike="noStrike" cap="none" normalizeH="0" baseline="0" dirty="0" err="1" bmk="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gogogo</a:t>
            </a:r>
            <a:endParaRPr kumimoji="0" lang="ru-RU" altLang="ru-RU" sz="15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Без скобок шаблон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означает символ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 идущий после него символ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который повторяется один или более раз. Например,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goooo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или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gooooooooo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Скобки группируют символы вместе. Так что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означает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gogo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gogogo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 т.п.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FDA586-CC8F-4773-8B65-34F9FCB1E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832" y="2358223"/>
            <a:ext cx="6334125" cy="476250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76D3FFB6-25BF-40A7-AFBB-319AB0B3C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831" y="2869925"/>
            <a:ext cx="9080625" cy="1118150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  <a:hlinkClick r:id="rId4"/>
              </a:rPr>
              <a:t>П</a:t>
            </a:r>
            <a:r>
              <a:rPr kumimoji="0" lang="ru-RU" altLang="ru-RU" sz="1500" b="1" i="0" u="none" strike="noStrike" cap="none" normalizeH="0" baseline="0" dirty="0" bmk="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  <a:hlinkClick r:id="rId4"/>
              </a:rPr>
              <a:t>ример: </a:t>
            </a:r>
            <a:r>
              <a:rPr kumimoji="0" lang="ru-RU" altLang="ru-RU" sz="1500" b="1" i="0" u="none" strike="noStrike" cap="none" normalizeH="0" baseline="0" dirty="0" err="1" bmk="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  <a:hlinkClick r:id="rId4"/>
              </a:rPr>
              <a:t>email</a:t>
            </a:r>
            <a:endParaRPr kumimoji="0" lang="ru-RU" altLang="ru-RU" sz="15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C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озд</a:t>
            </a:r>
            <a:r>
              <a:rPr lang="ru-RU" altLang="ru-RU" sz="1200" dirty="0" err="1">
                <a:solidFill>
                  <a:srgbClr val="333333"/>
                </a:solidFill>
                <a:latin typeface="BlinkMacSystemFont"/>
              </a:rPr>
              <a:t>им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регулярное выражение для поиска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Формат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: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имя@домен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В качестве имени может быть любое слово, разрешены дефисы и точки.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На языке регулярных выражений это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[-.\w]+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67C5D1-7938-464A-B636-8DEA7A916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831" y="4080408"/>
            <a:ext cx="75057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9838A5-9C89-42D8-964A-62B0F29BD2E5}"/>
              </a:ext>
            </a:extLst>
          </p:cNvPr>
          <p:cNvSpPr txBox="1"/>
          <p:nvPr/>
        </p:nvSpPr>
        <p:spPr>
          <a:xfrm>
            <a:off x="1174687" y="29516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u="sng" dirty="0">
                <a:solidFill>
                  <a:srgbClr val="666666"/>
                </a:solidFill>
                <a:effectLst/>
                <a:latin typeface="BlinkMacSystemFont"/>
                <a:hlinkClick r:id="rId2"/>
              </a:rPr>
              <a:t>Именованные группы</a:t>
            </a:r>
            <a:endParaRPr lang="ru-RU" b="1" i="0" dirty="0">
              <a:solidFill>
                <a:srgbClr val="333333"/>
              </a:solidFill>
              <a:effectLst/>
              <a:latin typeface="BlinkMacSystemFon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44E643-CE2B-474B-AEE0-837044379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687" y="1848968"/>
            <a:ext cx="6934200" cy="191452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2C2144C-9086-4B7E-8316-496E18FF2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687" y="841235"/>
            <a:ext cx="8238836" cy="830997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Запоминать группы по номерам не очень удобно. Для простых шаблонов это допустимо, но в сложных регулярных выражениях считать скобки затруднительно. Гораздо лучше – давать скобкам имена.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Это делается добавлением 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?&lt;name&gt;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непосредственно после открытия скобки.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Например, поищем дату в формате «день-месяц-год»: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F0960F-4D4A-4FB8-B2BF-08BFEA276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262" y="4149865"/>
            <a:ext cx="6905625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2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6FC26B-50A1-4C05-8EF7-520C51F04293}"/>
              </a:ext>
            </a:extLst>
          </p:cNvPr>
          <p:cNvSpPr txBox="1"/>
          <p:nvPr/>
        </p:nvSpPr>
        <p:spPr>
          <a:xfrm>
            <a:off x="1174687" y="23179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u="none" strike="noStrike" dirty="0"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Проверка: </a:t>
            </a:r>
            <a:r>
              <a:rPr lang="en-US" b="1" i="0" u="none" strike="noStrike" dirty="0" err="1"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regexp.test</a:t>
            </a:r>
            <a:endParaRPr lang="en-US" b="1" i="0" dirty="0">
              <a:solidFill>
                <a:srgbClr val="333333"/>
              </a:solidFill>
              <a:effectLst/>
              <a:latin typeface="BlinkMacSystemFon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0078B3F-7F2A-4CB1-8C45-EA7218EEC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687" y="782257"/>
            <a:ext cx="9499349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Метод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regexp.test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проверяет, есть ли хоть одно совпадение, если да, то возвращает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иначе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FBBFD0-F30F-47F8-BEBD-A84B730A7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687" y="1283392"/>
            <a:ext cx="6896100" cy="112395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348E008-95AC-4E89-A2EC-CA929D9E3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374" y="2545841"/>
            <a:ext cx="9435974" cy="2282587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9656" rIns="0" bIns="13965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effectLst/>
                <a:latin typeface="BlinkMacSystemFon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</a:t>
            </a:r>
            <a:r>
              <a:rPr kumimoji="0" lang="ru-RU" altLang="ru-RU" sz="1800" b="1" i="0" u="none" strike="noStrike" cap="none" normalizeH="0" baseline="0" dirty="0" bmk="">
                <a:ln>
                  <a:noFill/>
                </a:ln>
                <a:effectLst/>
                <a:latin typeface="BlinkMacSystemFon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того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Регулярное выражение состоит из шаблона и необязательных флагов: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Без флагов и специальных символов, которые мы изучим позже, поиск по регулярному выражению аналогичен поиску подстроки.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Метод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str.match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ищет совпадения: все, если есть флаг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иначе только первое.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Метод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str.replace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replacement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заменяет совпадения с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на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replacement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: все, если у регулярного выражения есть флаг 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иначе только первое.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Метод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regexp.test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возвращает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если есть хоть одно совпадение, иначе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186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4A5214-D6ED-418F-A213-8E372D0B9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397" y="422088"/>
            <a:ext cx="9499349" cy="461665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Напишите регулярное выражение, которое соответствует цветам в формате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#abc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или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#abcdef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То есть: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 за ним 3 или 6 шестнадцатеричных цифр.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E69A2A-4EBB-4F4C-8803-E3A9AA918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97" y="1156438"/>
            <a:ext cx="683895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9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4C0718-C091-46C6-A421-06902ED7B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47" y="339033"/>
            <a:ext cx="72199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607C513-125A-4E59-94EF-87D2B17A1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470" y="358108"/>
            <a:ext cx="9886383" cy="646331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59B2"/>
                </a:solidFill>
                <a:effectLst/>
                <a:latin typeface="BlinkMacSystemFont"/>
                <a:hlinkClick r:id="rId2"/>
              </a:rPr>
              <a:t>MAC-адрес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сетевого интерфейса состоит из 6-ти двузначных шестнадцатеричных чисел, разделённых двоеточиями.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Например: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'01:32:54:67:89:AB'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Напишите регулярное выражение, которое проверит, является ли строка MAC-адресом.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D8049D-24A8-41DC-B280-DBF25A84C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70" y="1144744"/>
            <a:ext cx="73723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5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AB1F2A-E877-4F74-BBD9-8470897E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44" y="291267"/>
            <a:ext cx="7210425" cy="18573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005C3D-B6D4-4D7D-BA74-9ACD3F238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144" y="2787713"/>
            <a:ext cx="6781800" cy="2133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E0CF45-70F2-4933-BDDC-D60D2687518B}"/>
              </a:ext>
            </a:extLst>
          </p:cNvPr>
          <p:cNvSpPr txBox="1"/>
          <p:nvPr/>
        </p:nvSpPr>
        <p:spPr>
          <a:xfrm>
            <a:off x="1384144" y="5560384"/>
            <a:ext cx="678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https://learn.javascript.ru/regular-expressions</a:t>
            </a:r>
          </a:p>
        </p:txBody>
      </p:sp>
    </p:spTree>
    <p:extLst>
      <p:ext uri="{BB962C8B-B14F-4D97-AF65-F5344CB8AC3E}">
        <p14:creationId xmlns:p14="http://schemas.microsoft.com/office/powerpoint/2010/main" val="280522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217</TotalTime>
  <Words>257</Words>
  <Application>Microsoft Office PowerPoint</Application>
  <PresentationFormat>Широкоэкранный</PresentationFormat>
  <Paragraphs>62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BlinkMacSystemFont</vt:lpstr>
      <vt:lpstr>Consolas</vt:lpstr>
      <vt:lpstr>Corbel</vt:lpstr>
      <vt:lpstr>Gill Sans MT</vt:lpstr>
      <vt:lpstr>Impact</vt:lpstr>
      <vt:lpstr>Эмблема</vt:lpstr>
      <vt:lpstr>Методы RegExp и String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RegExp и String </dc:title>
  <dc:creator>Jasurjon M. Akhmatfaezov</dc:creator>
  <cp:lastModifiedBy>Жасуржон Ахматфаезов</cp:lastModifiedBy>
  <cp:revision>9</cp:revision>
  <dcterms:created xsi:type="dcterms:W3CDTF">2021-03-04T10:23:26Z</dcterms:created>
  <dcterms:modified xsi:type="dcterms:W3CDTF">2021-03-04T16:37:43Z</dcterms:modified>
</cp:coreProperties>
</file>