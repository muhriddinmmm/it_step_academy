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02536665-E18A-47E0-9F3D-22A367642DDE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8D9D744-0659-4620-B25C-0D6181352FD7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09080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36665-E18A-47E0-9F3D-22A367642DDE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D744-0659-4620-B25C-0D6181352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95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2536665-E18A-47E0-9F3D-22A367642DDE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8D9D744-0659-4620-B25C-0D6181352FD7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0771047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36665-E18A-47E0-9F3D-22A367642DDE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D744-0659-4620-B25C-0D6181352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08847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36665-E18A-47E0-9F3D-22A367642DDE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D744-0659-4620-B25C-0D6181352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65450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36665-E18A-47E0-9F3D-22A367642DDE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D744-0659-4620-B25C-0D6181352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5202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36665-E18A-47E0-9F3D-22A367642DDE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D744-0659-4620-B25C-0D6181352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2052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02536665-E18A-47E0-9F3D-22A367642DDE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18D9D744-0659-4620-B25C-0D6181352FD7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429199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02536665-E18A-47E0-9F3D-22A367642DDE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18D9D744-0659-4620-B25C-0D6181352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3766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36665-E18A-47E0-9F3D-22A367642DDE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D744-0659-4620-B25C-0D6181352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9417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36665-E18A-47E0-9F3D-22A367642DDE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D744-0659-4620-B25C-0D6181352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6094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02536665-E18A-47E0-9F3D-22A367642DDE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8D9D744-0659-4620-B25C-0D6181352FD7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70309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tools.ietf.org/html/rfc6265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learn.javascript.ru/cookie#chtenie-iz-document-cookie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learn.javascript.ru/cookie#zapis-v-document-cookie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832404-F232-4A68-B4A0-6AEA067AA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6278" y="1231506"/>
            <a:ext cx="10318418" cy="4394988"/>
          </a:xfrm>
        </p:spPr>
        <p:txBody>
          <a:bodyPr/>
          <a:lstStyle/>
          <a:p>
            <a:r>
              <a:rPr lang="ru-RU" sz="8000" b="1" dirty="0">
                <a:solidFill>
                  <a:srgbClr val="333333"/>
                </a:solidFill>
                <a:effectLst/>
                <a:latin typeface="BlinkMacSystemFont"/>
              </a:rPr>
              <a:t>Куки, </a:t>
            </a:r>
            <a:r>
              <a:rPr lang="en-US" sz="8000" b="1" dirty="0" err="1">
                <a:solidFill>
                  <a:srgbClr val="333333"/>
                </a:solidFill>
                <a:effectLst/>
                <a:latin typeface="BlinkMacSystemFont"/>
              </a:rPr>
              <a:t>document.cookie</a:t>
            </a:r>
            <a:br>
              <a:rPr lang="en-US" sz="8000" b="1" dirty="0">
                <a:solidFill>
                  <a:srgbClr val="333333"/>
                </a:solidFill>
                <a:effectLst/>
                <a:latin typeface="BlinkMacSystemFont"/>
              </a:rPr>
            </a:br>
            <a:endParaRPr lang="ru-RU" sz="8000" dirty="0"/>
          </a:p>
        </p:txBody>
      </p:sp>
    </p:spTree>
    <p:extLst>
      <p:ext uri="{BB962C8B-B14F-4D97-AF65-F5344CB8AC3E}">
        <p14:creationId xmlns:p14="http://schemas.microsoft.com/office/powerpoint/2010/main" val="3105427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3323EE40-2037-4CFB-8140-FD892D3B7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5119" y="770180"/>
            <a:ext cx="10138298" cy="4757668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39656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 – это небольшие строки данных, которые хранятся непосредственно в браузере. Они являются частью HTTP-протокола, определённого в спецификации 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59B2"/>
                </a:solidFill>
                <a:effectLst/>
                <a:latin typeface="BlinkMacSystemFont"/>
                <a:hlinkClick r:id="rId2"/>
              </a:rPr>
              <a:t>RFC 6265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.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 обычно устанавливаются веб-сервером при помощи заголовка 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Set-Cookie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. Затем браузер будет автоматически добавлять их в (почти) каждый запрос на тот же домен при помощи заголовка 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Cookie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.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Один из наиболее частых случаев использования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 – это аутентификация: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При входе на сайт сервер отсылает в ответ HTTP-заголовок 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Set-Cookie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для того, чтобы установить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 со специальным уникальным идентификатором сессии («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session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identifier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»).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Во время следующего запроса к этому же домену браузер посылает на сервер HTTP-заголовок 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Cookie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Таким образом, сервер понимает, кто сделал запрос.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Мы также можем получить доступ к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 непосредственно из браузера, используя свойство 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document.cookie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.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 имеют множество особенностей и тонкостей в использовании, и в этой главе мы подробно с ними разберёмся.</a:t>
            </a:r>
            <a:endParaRPr kumimoji="0" lang="ru-RU" altLang="ru-RU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2863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4C463A9-E1E3-4811-A1D6-C1FDFEB7E6D0}"/>
              </a:ext>
            </a:extLst>
          </p:cNvPr>
          <p:cNvSpPr txBox="1"/>
          <p:nvPr/>
        </p:nvSpPr>
        <p:spPr>
          <a:xfrm>
            <a:off x="1369381" y="583252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u="none" strike="noStrike" dirty="0">
                <a:solidFill>
                  <a:srgbClr val="333333"/>
                </a:solidFill>
                <a:effectLst/>
                <a:latin typeface="BlinkMacSystemFont"/>
                <a:hlinkClick r:id="rId2"/>
              </a:rPr>
              <a:t>Чтение из </a:t>
            </a:r>
            <a:r>
              <a:rPr lang="en-US" b="1" i="0" u="none" strike="noStrike" dirty="0" err="1">
                <a:solidFill>
                  <a:srgbClr val="333333"/>
                </a:solidFill>
                <a:effectLst/>
                <a:latin typeface="BlinkMacSystemFont"/>
                <a:hlinkClick r:id="rId2"/>
              </a:rPr>
              <a:t>document.cookie</a:t>
            </a:r>
            <a:endParaRPr lang="en-US" b="1" i="0" dirty="0">
              <a:solidFill>
                <a:srgbClr val="333333"/>
              </a:solidFill>
              <a:effectLst/>
              <a:latin typeface="BlinkMacSystemFont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33C06A3-06AE-4D50-A990-E2AB928B7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381" y="1025462"/>
            <a:ext cx="6981825" cy="8477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E002C6-40E3-4AA5-99C8-96BCFF85CDE6}"/>
              </a:ext>
            </a:extLst>
          </p:cNvPr>
          <p:cNvSpPr txBox="1"/>
          <p:nvPr/>
        </p:nvSpPr>
        <p:spPr>
          <a:xfrm>
            <a:off x="1369381" y="1946065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u="none" strike="noStrike" dirty="0">
                <a:solidFill>
                  <a:srgbClr val="333333"/>
                </a:solidFill>
                <a:effectLst/>
                <a:latin typeface="BlinkMacSystemFont"/>
                <a:hlinkClick r:id="rId4"/>
              </a:rPr>
              <a:t>Запись в </a:t>
            </a:r>
            <a:r>
              <a:rPr lang="en-US" b="1" i="0" u="none" strike="noStrike" dirty="0" err="1">
                <a:solidFill>
                  <a:srgbClr val="333333"/>
                </a:solidFill>
                <a:effectLst/>
                <a:latin typeface="BlinkMacSystemFont"/>
                <a:hlinkClick r:id="rId4"/>
              </a:rPr>
              <a:t>document.cookie</a:t>
            </a:r>
            <a:endParaRPr lang="en-US" b="1" i="0" dirty="0">
              <a:solidFill>
                <a:srgbClr val="333333"/>
              </a:solidFill>
              <a:effectLst/>
              <a:latin typeface="BlinkMacSystemFont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83E9AE71-1E2B-46BF-9D33-BE7D8E334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7901" y="2405381"/>
            <a:ext cx="8761520" cy="830997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Мы можем писать в 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document.cookie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. Но это не просто данные, а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акcессор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 (геттер/сеттер). Присваивание обрабатывается особым образом.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Запись в </a:t>
            </a:r>
            <a:r>
              <a:rPr kumimoji="0" lang="ru-RU" altLang="ru-RU" sz="1000" b="1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document.cookie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обновит только упомянутые в ней 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, но при этом не затронет все остальные.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Например, этот вызов установит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 с именем 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и значением 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John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: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CA1401E-60AC-4DA2-BE87-46D98BA076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056" y="3325984"/>
            <a:ext cx="6915150" cy="676275"/>
          </a:xfrm>
          <a:prstGeom prst="rect">
            <a:avLst/>
          </a:prstGeom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03528A53-68A4-435D-A64B-E9E9946F8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7901" y="4065551"/>
            <a:ext cx="8761520" cy="954107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Если вы запустите этот код, то, скорее всего, увидите множество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. Это происходит, потому что операция 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document.cookie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перезапишет не все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, а лишь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 с вышеупомянутым именем 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.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BlinkMacSystemFon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Технически, и имя и значение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 могут состоять из любых символов, для правильного форматирования следует использовать встроенную функцию 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encodeURIComponent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: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986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F5C6A71-A377-415C-AC3E-41D992591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918" y="305354"/>
            <a:ext cx="6915150" cy="179070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A2FB027-D896-4FC3-B17B-F7BBA4437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8918" y="2494626"/>
            <a:ext cx="8680604" cy="457200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У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 есть ряд настроек, многие из которых важны и должны быть установлены.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Эти настройки указываются после пары 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ключ=значение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и отделены друг от друга разделителем 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ru-RU" altLang="ru-RU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966427B-4D2E-4577-9368-66C5C7A22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8918" y="2951826"/>
            <a:ext cx="8680604" cy="1359258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39656" rIns="0" bIns="139656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000" b="1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=/</a:t>
            </a:r>
            <a:r>
              <a:rPr kumimoji="0" lang="ru-RU" altLang="ru-RU" sz="1000" b="1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mypath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BlinkMacSystemFon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URL-префикс пути,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 будут доступны для страниц под этим путём. Должен быть абсолютным. По умолчанию используется текущий путь.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Если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 установлено с 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=/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admin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, то оно будет доступно на страницах 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admin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и 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admin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something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, но не на страницах 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home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или 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adminpage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.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Как правило, указывают в качестве пути корень 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=/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, чтобы наше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 было доступно на всех страницах сайта.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A3D592E-073C-4B20-A969-0D0648A83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8918" y="4218751"/>
            <a:ext cx="9816946" cy="1174592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39656" rIns="0" bIns="139656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domain=site.com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BlinkMacSystemFon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Домен, на котором доступны наши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. На практике, однако, есть ограничения – мы не можем указать здесь какой угодно домен.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По умолчанию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 доступно лишь тому домену, который его установил. Так что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, которые были установлены сайтом 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site.com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, не будут доступны на сайте 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other.com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.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…Но что более интересно, мы не сможем получить эти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 на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поддомене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forum.site.com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!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DDE06F25-4C1C-49E9-9E51-68B702C5A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8918" y="5483443"/>
            <a:ext cx="9816946" cy="276999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Нет способа сделать куки доступным на другом домене 2-го уровня, так что </a:t>
            </a:r>
            <a:r>
              <a:rPr kumimoji="0" lang="ru-RU" altLang="ru-RU" sz="10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other.com</a:t>
            </a:r>
            <a:r>
              <a:rPr kumimoji="0" lang="ru-RU" altLang="ru-RU" sz="12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никогда не получит куки, установленное сайтом </a:t>
            </a:r>
            <a:r>
              <a:rPr kumimoji="0" lang="ru-RU" altLang="ru-RU" sz="10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site.com</a:t>
            </a:r>
            <a:r>
              <a:rPr kumimoji="0" lang="ru-RU" altLang="ru-RU" sz="12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.</a:t>
            </a:r>
            <a:r>
              <a:rPr kumimoji="0" lang="ru-RU" altLang="ru-RU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056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8065EE0-641D-47CF-82FD-1457DD816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3075" y="469231"/>
            <a:ext cx="9978501" cy="1402904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39656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По умолчанию, если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 не имеют ни одного из этих параметров, то они удалятся при закрытии браузера. Такие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 называются сессионными («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session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cookies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»).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Чтобы помочь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 «пережить» закрытие браузера, мы можем установить значение опций 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expires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или 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max-age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.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000" b="1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expires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ru-RU" altLang="ru-RU" sz="1000" b="1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Tue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, 19 </a:t>
            </a:r>
            <a:r>
              <a:rPr kumimoji="0" lang="ru-RU" altLang="ru-RU" sz="1000" b="1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Jan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2038 03:14:07 GMT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BlinkMacSystemFon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Дата истечения срока действия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, когда браузер удалит его автоматически.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Дата должна быть точно в этом формате, во временной зоне GMT. Мы можем использовать 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date.toUTCString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, чтобы получить правильную дату. Например, мы можем установить срок действия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 на 1 день.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A18A69F-3E78-477B-ABD1-9FC297E61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075" y="1989430"/>
            <a:ext cx="7419975" cy="1085850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EADD2937-9D6B-4F21-B509-EEEB623CB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3075" y="3290500"/>
            <a:ext cx="9978501" cy="276999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Если мы установим в 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expires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прошедшую дату, то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 будет удалено.</a:t>
            </a:r>
            <a:r>
              <a:rPr kumimoji="0" lang="ru-RU" altLang="ru-RU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56BFD88-3F08-4538-92B4-5F3D1DBC6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6749" y="3674031"/>
            <a:ext cx="9931152" cy="664240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39656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000" b="1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max-age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=3600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BlinkMacSystemFon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Альтернатива 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expires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, определяет срок действия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 в секундах с текущего момента.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Если задан ноль или отрицательное значение, то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 будет удалено: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49F716E-C578-4DC3-986C-19DF047C6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749" y="4444803"/>
            <a:ext cx="72390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99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12A2A3B2-9539-412A-B63F-1C39BD3F1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7797" y="361304"/>
            <a:ext cx="8260188" cy="1543924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39656" rIns="0" bIns="139656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000" b="1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secure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BlinkMacSystemFon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 следует передавать только по HTTPS-протоколу.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По умолчанию 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, установленные сайтом 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http://site.com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, также будут доступны на сайте 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https://site.com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и наоборот.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То есть,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, по умолчанию, опираются на доменное имя, они не обращают внимания на протоколы.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С этой настройкой, если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 будет установлено на сайте 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https://site.com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, то оно не будет доступно на том же сайте с протоколом HTTP, как 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http://site.com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. Таким образом, если в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 хранится конфиденциальная информация, которую не следует передавать по незашифрованному протоколу HTTP, то нужно установить этот флаг.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4BFEA72-AEE7-4FF3-A8C0-ACBCF5C07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797" y="2006076"/>
            <a:ext cx="7086600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150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178303A9-DED2-433B-915A-EEB5F559A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9507" y="446725"/>
            <a:ext cx="10262586" cy="3434229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39656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document.cookie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предоставляет доступ к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</a:t>
            </a:r>
            <a:endParaRPr kumimoji="0" lang="ru-RU" altLang="ru-RU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операция записи изменяет только то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, которое было указано.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имя и значение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 должны быть закодированы.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одно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 вмещает до 4kb данных, разрешается более 20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 на сайт (зависит от браузера).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Настройки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:</a:t>
            </a:r>
            <a:endParaRPr kumimoji="0" lang="ru-RU" altLang="ru-RU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=/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, по умолчанию устанавливается текущий путь, делает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 видимым только по указанному пути и ниже.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domain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=site.com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, по умолчанию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 видно только на текущем домене, если явно указан домен, то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 видно и на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поддоменах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expires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или 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max-age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устанавливает дату истечения срока действия, без них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 умрёт при закрытии браузера.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secure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 делает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куки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BlinkMacSystemFont"/>
              </a:rPr>
              <a:t> доступным только при использовании HTTPS.</a:t>
            </a:r>
          </a:p>
        </p:txBody>
      </p:sp>
    </p:spTree>
    <p:extLst>
      <p:ext uri="{BB962C8B-B14F-4D97-AF65-F5344CB8AC3E}">
        <p14:creationId xmlns:p14="http://schemas.microsoft.com/office/powerpoint/2010/main" val="1035557023"/>
      </p:ext>
    </p:extLst>
  </p:cSld>
  <p:clrMapOvr>
    <a:masterClrMapping/>
  </p:clrMapOvr>
</p:sld>
</file>

<file path=ppt/theme/theme1.xml><?xml version="1.0" encoding="utf-8"?>
<a:theme xmlns:a="http://schemas.openxmlformats.org/drawingml/2006/main" name="Эмблема">
  <a:themeElements>
    <a:clrScheme name="Эмблема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Эмблема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Эмблем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Эмблема</Template>
  <TotalTime>12</TotalTime>
  <Words>880</Words>
  <Application>Microsoft Office PowerPoint</Application>
  <PresentationFormat>Широкоэкранный</PresentationFormat>
  <Paragraphs>51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4" baseType="lpstr">
      <vt:lpstr>Arial</vt:lpstr>
      <vt:lpstr>BlinkMacSystemFont</vt:lpstr>
      <vt:lpstr>Consolas</vt:lpstr>
      <vt:lpstr>Corbel</vt:lpstr>
      <vt:lpstr>Gill Sans MT</vt:lpstr>
      <vt:lpstr>Impact</vt:lpstr>
      <vt:lpstr>Эмблема</vt:lpstr>
      <vt:lpstr>Куки, document.cookie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Куки, document.cookie </dc:title>
  <dc:creator>Jasurjon M. Akhmatfaezov</dc:creator>
  <cp:lastModifiedBy>Jasurjon M. Akhmatfaezov</cp:lastModifiedBy>
  <cp:revision>2</cp:revision>
  <dcterms:created xsi:type="dcterms:W3CDTF">2021-03-04T11:34:01Z</dcterms:created>
  <dcterms:modified xsi:type="dcterms:W3CDTF">2021-03-04T11:46:47Z</dcterms:modified>
</cp:coreProperties>
</file>